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ISO Functional Suitability</c:v>
                </c:pt>
              </c:strCache>
            </c:strRef>
          </c:tx>
          <c:spPr>
            <a:solidFill>
              <a:srgbClr val="FF5A3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720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5A3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0912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879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A88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Skript_L</c:v>
                  </c:pt>
                  <c:pt idx="1">
                    <c:v>Skript_S</c:v>
                  </c:pt>
                  <c:pt idx="2">
                    <c:v>Skript_C</c:v>
                  </c:pt>
                  <c:pt idx="3">
                    <c:v>Skript_H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0.709</c:v>
                </c:pt>
                <c:pt idx="1">
                  <c:v>0.656</c:v>
                </c:pt>
                <c:pt idx="2">
                  <c:v>0.6</c:v>
                </c:pt>
                <c:pt idx="3">
                  <c:v>0.6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300" u="none">
                  <a:solidFill>
                    <a:srgbClr val="1720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7202B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12700" cap="flat">
              <a:solidFill>
                <a:srgbClr val="E4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6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Endpräsentation. Kernfrage: schlägt ein LLM-Agent den klassischen Crawler beim automatischen Schreiben von Web-UI-Tests?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9AA7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Applied Machine Learning · HHZ · 15.07.2026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2011680"/>
            <a:ext cx="87782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Kann eine KI</a:t>
            </a:r>
            <a:endParaRPr lang="en-US" sz="52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200" b="1" dirty="0">
                <a:solidFill>
                  <a:srgbClr val="FF5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Web-UI-Tests schreiben?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7498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empirischer Vergleich: LLM-Agent gegen klassischen Crawler bei der automatischen Testfallgenerierung für Web-Oberflächen.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59436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Timon Fricke · Philippos Melikidis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784080" y="2148840"/>
            <a:ext cx="1737360" cy="603504"/>
          </a:xfrm>
          <a:prstGeom prst="roundRect">
            <a:avLst>
              <a:gd name="adj" fmla="val 15152"/>
            </a:avLst>
          </a:prstGeom>
          <a:solidFill>
            <a:srgbClr val="1F2A38"/>
          </a:solidFill>
          <a:ln w="15875">
            <a:solidFill>
              <a:srgbClr val="7A87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930384" y="220370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87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930384" y="245973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Crawler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784080" y="2935224"/>
            <a:ext cx="1737360" cy="603504"/>
          </a:xfrm>
          <a:prstGeom prst="roundRect">
            <a:avLst>
              <a:gd name="adj" fmla="val 15152"/>
            </a:avLst>
          </a:prstGeom>
          <a:solidFill>
            <a:srgbClr val="1F2A38"/>
          </a:solidFill>
          <a:ln w="15875">
            <a:solidFill>
              <a:srgbClr val="FF5A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930384" y="29900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930384" y="324612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LLM-Agent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784080" y="3721608"/>
            <a:ext cx="1737360" cy="603504"/>
          </a:xfrm>
          <a:prstGeom prst="roundRect">
            <a:avLst>
              <a:gd name="adj" fmla="val 15152"/>
            </a:avLst>
          </a:prstGeom>
          <a:solidFill>
            <a:srgbClr val="1F2A38"/>
          </a:solidFill>
          <a:ln w="15875">
            <a:solidFill>
              <a:srgbClr val="E091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930384" y="3776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9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930384" y="4032504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LLM-Agent+Story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784080" y="4507992"/>
            <a:ext cx="1737360" cy="603504"/>
          </a:xfrm>
          <a:prstGeom prst="roundRect">
            <a:avLst>
              <a:gd name="adj" fmla="val 15152"/>
            </a:avLst>
          </a:prstGeom>
          <a:solidFill>
            <a:srgbClr val="1F2A38"/>
          </a:solidFill>
          <a:ln w="15875">
            <a:solidFill>
              <a:srgbClr val="1FA8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30384" y="45628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A8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930384" y="481888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91440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UI-Tests von Hand zu schreiben ist teuer — und veraltet schnell.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6974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26609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Aufwändig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023360" y="264261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Klickpfad, jeder Selektor, jede Prüfung — manuell formuliert und gepflegt.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5387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38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80160" y="35021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Brüchig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023360" y="3483864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umbenannter Button, ein neues Layout — und ganze Test-Suiten brechen.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379976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3799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80160" y="4343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Skaliert nicht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023360" y="432511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Moderne SPAs (Angular, React) haben hunderte interaktive Elemente pro Seite.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281160" y="960120"/>
            <a:ext cx="2331720" cy="4937760"/>
          </a:xfrm>
          <a:prstGeom prst="roundRect">
            <a:avLst>
              <a:gd name="adj" fmla="val 4706"/>
            </a:avLst>
          </a:prstGeom>
          <a:solidFill>
            <a:srgbClr val="17202B"/>
          </a:solidFill>
          <a:ln/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509760" y="12344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Die Idee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509760" y="1691640"/>
            <a:ext cx="1920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 Maschine erkundet die App selbst und erzeugt die Testsuite.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509760" y="4206240"/>
            <a:ext cx="1920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Klassisch per Crawler — oder mit einem LLM-Agenten. Was ist besser?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FORSCHUNGSFRAGE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9601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Zwei Fragen treiben die Arbeit.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10881360" cy="1691640"/>
          </a:xfrm>
          <a:prstGeom prst="roundRect">
            <a:avLst>
              <a:gd name="adj" fmla="val 5405"/>
            </a:avLst>
          </a:prstGeom>
          <a:solidFill>
            <a:srgbClr val="1F2A38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51460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5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2468880" y="254203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Schlägt der LLM-Agent den Crawler?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468880" y="31546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identischer, anforderungsfreier Aufgabe — App autonom erkunden und eine Testsuite erzeugen.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4206240"/>
            <a:ext cx="10881360" cy="1691640"/>
          </a:xfrm>
          <a:prstGeom prst="roundRect">
            <a:avLst>
              <a:gd name="adj" fmla="val 5405"/>
            </a:avLst>
          </a:prstGeom>
          <a:solidFill>
            <a:srgbClr val="1F2A38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443484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A8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2468880" y="446227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Hilft die Kombination?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468880" y="507492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Bringt es Vorteile, den LLM-Agenten mit der Karte des Crawlers (Routen + echte Locator) zu erden?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WAS WIR GEBAUT HABEN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Vier Wege, dieselbe Testsuite zu erzeugen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670048" cy="4160520"/>
          </a:xfrm>
          <a:prstGeom prst="roundRect">
            <a:avLst>
              <a:gd name="adj" fmla="val 3425"/>
            </a:avLst>
          </a:prstGeom>
          <a:solidFill>
            <a:srgbClr val="FBFBFC"/>
          </a:solidFill>
          <a:ln w="12700">
            <a:solidFill>
              <a:srgbClr val="E4E7EB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039112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7A8794"/>
          </a:solidFill>
          <a:ln/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203911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Skript_C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41248" y="2569464"/>
            <a:ext cx="2267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28803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7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traditionell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41248" y="3264408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Crawler klickt die App autonom durch, baut einen Zustandsgraphen und serialisiert ihn zu einem pytest-Skript.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41248" y="5486400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ohne User-Story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74720" y="1783080"/>
            <a:ext cx="2670048" cy="4160520"/>
          </a:xfrm>
          <a:prstGeom prst="roundRect">
            <a:avLst>
              <a:gd name="adj" fmla="val 3425"/>
            </a:avLst>
          </a:prstGeom>
          <a:solidFill>
            <a:srgbClr val="FBFBFC"/>
          </a:solidFill>
          <a:ln w="12700">
            <a:solidFill>
              <a:srgbClr val="E4E7EB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75888" y="2039112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FF5A3C"/>
          </a:solidFill>
          <a:ln/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75888" y="203911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75888" y="2569464"/>
            <a:ext cx="2267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LLM-Agent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75888" y="28803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LLM-only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675888" y="3264408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LLM-Agent bekommt dieselbe Aufgabe: die App selbst erkunden und eine Testsuite schreiben.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75888" y="5486400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ohne User-Story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309360" y="1783080"/>
            <a:ext cx="2670048" cy="4160520"/>
          </a:xfrm>
          <a:prstGeom prst="roundRect">
            <a:avLst>
              <a:gd name="adj" fmla="val 3425"/>
            </a:avLst>
          </a:prstGeom>
          <a:solidFill>
            <a:srgbClr val="FBFBFC"/>
          </a:solidFill>
          <a:ln w="12700">
            <a:solidFill>
              <a:srgbClr val="E4E7EB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10528" y="2039112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E0912F"/>
          </a:solidFill>
          <a:ln/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10528" y="203911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10528" y="2569464"/>
            <a:ext cx="2267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LLM-Agent+Story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510528" y="28803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09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LLM-only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510528" y="3264408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Derselbe LLM-Agent — bekommt zusätzlich die User-Stories und testet sie direkt.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0528" y="5486400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mit User-Story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144000" y="1783080"/>
            <a:ext cx="2670048" cy="4160520"/>
          </a:xfrm>
          <a:prstGeom prst="roundRect">
            <a:avLst>
              <a:gd name="adj" fmla="val 3425"/>
            </a:avLst>
          </a:prstGeom>
          <a:solidFill>
            <a:srgbClr val="FBFBFC"/>
          </a:solidFill>
          <a:ln w="12700">
            <a:solidFill>
              <a:srgbClr val="E4E7EB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345168" y="2039112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1FA88F"/>
          </a:solidFill>
          <a:ln/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345168" y="203911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Skript_H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345168" y="2569464"/>
            <a:ext cx="2267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345168" y="28803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A8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Aufsatz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345168" y="3264408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LLM-Agent, geseedet mit der Crawler-Karte (echte Routen + Locator). Erdet die Story-Tests in real existierenden Selektoren.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345168" y="5486400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mit User-Story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C vs. L isoliert die Methode · S vs. H isoliert den Nutzen der Crawler-Erdung.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STUDIENDESIGN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68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Anforderungswissen als Trennlinie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49240" cy="4023360"/>
          </a:xfrm>
          <a:prstGeom prst="roundRect">
            <a:avLst>
              <a:gd name="adj" fmla="val 2727"/>
            </a:avLst>
          </a:prstGeom>
          <a:solidFill>
            <a:srgbClr val="FBFBFC"/>
          </a:solidFill>
          <a:ln w="12700">
            <a:solidFill>
              <a:srgbClr val="E4E7EB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1031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87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Methode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Fairer A/B — ohne Anforderungen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2971800"/>
            <a:ext cx="4800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Crawler und LLM-Agent bekommen exakt dieselbe Aufgabe. Keiner sieht die User-Stories. Gemessen wird rein die Generierungsmethode.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914400" y="4480560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7A8794"/>
          </a:solidFill>
          <a:ln/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14400" y="448056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Skript_C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514600" y="4480560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FF5A3C"/>
          </a:solidFill>
          <a:ln/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514600" y="448056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9080" y="44805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6B76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172200" y="1828800"/>
            <a:ext cx="5349240" cy="4023360"/>
          </a:xfrm>
          <a:prstGeom prst="roundRect">
            <a:avLst>
              <a:gd name="adj" fmla="val 2727"/>
            </a:avLst>
          </a:prstGeom>
          <a:solidFill>
            <a:srgbClr val="17202B"/>
          </a:solidFill>
          <a:ln/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46520" y="21031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A8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Methode 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24231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— Erdung trifft Story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446520" y="2971800"/>
            <a:ext cx="4800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Hybrid ist ein live explorierender LLM-Agent (wie S), zusätzlich geseedet mit der Crawler-Karte: entdeckte Routen und echte, verifizierte Locator aus Skript_C.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446520" y="4526280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1FA88F"/>
          </a:solidFill>
          <a:ln/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46520" y="452628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01000" y="45262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Hypothese: H schlägt C und L.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Bewertung: C/L intrinsisch (sahen keine Stories) · S/H story-bewusst.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ARCHITEKTUR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Rahmen, drei Generatoren, eine Messung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920240" cy="1737360"/>
          </a:xfrm>
          <a:prstGeom prst="roundRect">
            <a:avLst>
              <a:gd name="adj" fmla="val 4737"/>
            </a:avLst>
          </a:prstGeom>
          <a:solidFill>
            <a:srgbClr val="17202B"/>
          </a:solidFill>
          <a:ln/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331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Ziel-App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27889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A7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OWASP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A7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Juice Shop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965960"/>
            <a:ext cx="2743200" cy="713232"/>
          </a:xfrm>
          <a:prstGeom prst="roundRect">
            <a:avLst>
              <a:gd name="adj" fmla="val 11538"/>
            </a:avLst>
          </a:prstGeom>
          <a:solidFill>
            <a:srgbClr val="FBFBFC"/>
          </a:solidFill>
          <a:ln w="15875">
            <a:solidFill>
              <a:srgbClr val="7A8794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10712" y="202082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87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Skript_C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410712" y="23317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Crawler · traditionell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2788920"/>
            <a:ext cx="2743200" cy="713232"/>
          </a:xfrm>
          <a:prstGeom prst="roundRect">
            <a:avLst>
              <a:gd name="adj" fmla="val 11538"/>
            </a:avLst>
          </a:prstGeom>
          <a:solidFill>
            <a:srgbClr val="FBFBFC"/>
          </a:solidFill>
          <a:ln w="15875">
            <a:solidFill>
              <a:srgbClr val="FF5A3C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410712" y="28437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Skript_L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410712" y="31546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LLM-Agent · LLM-only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46120" y="3611880"/>
            <a:ext cx="2743200" cy="713232"/>
          </a:xfrm>
          <a:prstGeom prst="roundRect">
            <a:avLst>
              <a:gd name="adj" fmla="val 11538"/>
            </a:avLst>
          </a:prstGeom>
          <a:solidFill>
            <a:srgbClr val="FBFBFC"/>
          </a:solidFill>
          <a:ln w="15875">
            <a:solidFill>
              <a:srgbClr val="1FA88F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410712" y="36667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A8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Skript_H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410712" y="39776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· Aufsatz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46120" y="4407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 wie L, zusätzlich mit Story)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355080" y="2331720"/>
            <a:ext cx="2148840" cy="1371600"/>
          </a:xfrm>
          <a:prstGeom prst="roundRect">
            <a:avLst>
              <a:gd name="adj" fmla="val 6000"/>
            </a:avLst>
          </a:prstGeom>
          <a:solidFill>
            <a:srgbClr val="FBFBFC"/>
          </a:solidFill>
          <a:ln w="15875">
            <a:solidFill>
              <a:srgbClr val="E4E7EB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355080" y="251460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pytest-</a:t>
            </a:r>
            <a:endParaRPr lang="en-US" sz="17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Ausführung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355080" y="331012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Execute-verify-repair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686800" y="2103120"/>
            <a:ext cx="2834640" cy="914400"/>
          </a:xfrm>
          <a:prstGeom prst="roundRect">
            <a:avLst>
              <a:gd name="adj" fmla="val 9000"/>
            </a:avLst>
          </a:prstGeom>
          <a:solidFill>
            <a:srgbClr val="FBFBFC"/>
          </a:solidFill>
          <a:ln w="15875">
            <a:solidFill>
              <a:srgbClr val="E4E7EB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686800" y="22128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Metrik-Suite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686800" y="25786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objektiv + LLM-as-Judge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686800" y="3154680"/>
            <a:ext cx="2834640" cy="914400"/>
          </a:xfrm>
          <a:prstGeom prst="roundRect">
            <a:avLst>
              <a:gd name="adj" fmla="val 9000"/>
            </a:avLst>
          </a:prstGeom>
          <a:solidFill>
            <a:srgbClr val="17202B"/>
          </a:solidFill>
          <a:ln/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686800" y="326440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A8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ISO/IEC 25010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686800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Suitability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2560320" y="2916936"/>
            <a:ext cx="640080" cy="0"/>
          </a:xfrm>
          <a:prstGeom prst="line">
            <a:avLst/>
          </a:prstGeom>
          <a:noFill/>
          <a:ln w="22225">
            <a:solidFill>
              <a:srgbClr val="7A8794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989320" y="3017520"/>
            <a:ext cx="320040" cy="0"/>
          </a:xfrm>
          <a:prstGeom prst="line">
            <a:avLst/>
          </a:prstGeom>
          <a:noFill/>
          <a:ln w="22225">
            <a:solidFill>
              <a:srgbClr val="7A8794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503920" y="3017520"/>
            <a:ext cx="137160" cy="0"/>
          </a:xfrm>
          <a:prstGeom prst="line">
            <a:avLst/>
          </a:prstGeom>
          <a:noFill/>
          <a:ln w="22225">
            <a:solidFill>
              <a:srgbClr val="7A879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40080" y="4892040"/>
            <a:ext cx="10881360" cy="1234440"/>
          </a:xfrm>
          <a:prstGeom prst="roundRect">
            <a:avLst>
              <a:gd name="adj" fmla="val 7407"/>
            </a:avLst>
          </a:prstGeom>
          <a:solidFill>
            <a:srgbClr val="F3F4F6"/>
          </a:solidFill>
          <a:ln/>
        </p:spPr>
      </p:sp>
      <p:sp>
        <p:nvSpPr>
          <p:cNvPr id="30" name="Text 28"/>
          <p:cNvSpPr/>
          <p:nvPr/>
        </p:nvSpPr>
        <p:spPr>
          <a:xfrm>
            <a:off x="914400" y="5074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Portables Design.  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Provider-Abstraktion (Ollama lokal/Cloud, OpenAI, Gemini) und ein JSON-Aktionsprotokoll statt vendor-spezifischem Function-Calling — kleine lokale Modelle laufen genauso wie gehostete. Der Agent exploriert über den offiziellen Playwright-MCP-Server.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WIE WIR BEWERTEN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68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Gemeinsame Metrik-Suite → ISO 25010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0" cy="1874520"/>
          </a:xfrm>
          <a:prstGeom prst="roundRect">
            <a:avLst>
              <a:gd name="adj" fmla="val 4878"/>
            </a:avLst>
          </a:prstGeom>
          <a:solidFill>
            <a:srgbClr val="FBFBFC"/>
          </a:solidFill>
          <a:ln w="12700">
            <a:solidFill>
              <a:srgbClr val="E4E7EB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756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A87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Objektiv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24963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aus Ausführung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280720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Pass-Rate (SSR), ausgeführte Element-Coverage, Flakiness — deterministisch gemessen.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931920"/>
            <a:ext cx="5486400" cy="1874520"/>
          </a:xfrm>
          <a:prstGeom prst="roundRect">
            <a:avLst>
              <a:gd name="adj" fmla="val 4878"/>
            </a:avLst>
          </a:prstGeom>
          <a:solidFill>
            <a:srgbClr val="FBFBFC"/>
          </a:solidFill>
          <a:ln w="12700">
            <a:solidFill>
              <a:srgbClr val="E4E7EB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14400" y="41330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5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LLM-as-Judge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14400" y="45537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DeepEval G-Eval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486460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Correctness, Appropriateness, Hallucination, Readability — semantisch bewertet.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0" y="1874520"/>
            <a:ext cx="5120640" cy="3886200"/>
          </a:xfrm>
          <a:prstGeom prst="roundRect">
            <a:avLst>
              <a:gd name="adj" fmla="val 2824"/>
            </a:avLst>
          </a:prstGeom>
          <a:solidFill>
            <a:srgbClr val="17202B"/>
          </a:solidFill>
          <a:ln/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675120" y="212140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 Suitability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675120" y="25420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Mittel aus drei Subcharakteristiken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675120" y="3063240"/>
            <a:ext cx="4572000" cy="786384"/>
          </a:xfrm>
          <a:prstGeom prst="roundRect">
            <a:avLst>
              <a:gd name="adj" fmla="val 8140"/>
            </a:avLst>
          </a:prstGeom>
          <a:solidFill>
            <a:srgbClr val="1F2A38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0" y="3154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8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858000" y="346557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Halten die Prüfungen? (Pass-Rate + Judge)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75120" y="3941064"/>
            <a:ext cx="4572000" cy="786384"/>
          </a:xfrm>
          <a:prstGeom prst="roundRect">
            <a:avLst>
              <a:gd name="adj" fmla="val 8140"/>
            </a:avLst>
          </a:prstGeom>
          <a:solidFill>
            <a:srgbClr val="1F2A38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403250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8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58000" y="43434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viel der geforderten Stories wird verifiziert?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675120" y="4818888"/>
            <a:ext cx="4572000" cy="786384"/>
          </a:xfrm>
          <a:prstGeom prst="roundRect">
            <a:avLst>
              <a:gd name="adj" fmla="val 8140"/>
            </a:avLst>
          </a:prstGeom>
          <a:solidFill>
            <a:srgbClr val="1F2A38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491032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8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Appropriateness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858000" y="522122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Robuste, benutzerorientierte Locator &amp; Prüfungen?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Stories dienen als einheitlicher Maßstab für alle vier Artefakte — auch für die story-frei erzeugten.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DIE ZIEL-ANWENDUNG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68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OWASP Juice Shop als Prüfstand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6126480" cy="3977640"/>
          </a:xfrm>
          <a:prstGeom prst="roundRect">
            <a:avLst>
              <a:gd name="adj" fmla="val 2759"/>
            </a:avLst>
          </a:prstGeom>
          <a:solidFill>
            <a:srgbClr val="FBFBFC"/>
          </a:solidFill>
          <a:ln w="12700">
            <a:solidFill>
              <a:srgbClr val="E4E7EB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240280"/>
            <a:ext cx="384048" cy="384048"/>
          </a:xfrm>
          <a:prstGeom prst="ellipse">
            <a:avLst/>
          </a:prstGeom>
          <a:solidFill>
            <a:srgbClr val="FF5A3C"/>
          </a:solidFill>
          <a:ln/>
        </p:spPr>
      </p:sp>
      <p:sp>
        <p:nvSpPr>
          <p:cNvPr id="6" name="Text 4"/>
          <p:cNvSpPr/>
          <p:nvPr/>
        </p:nvSpPr>
        <p:spPr>
          <a:xfrm>
            <a:off x="1572768" y="217627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OWASP Juice Shop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005840" y="27614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Komplexe Angular-SPA · E-Commerce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005840" y="3291840"/>
            <a:ext cx="5394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Registrierung, Suche, Warenkorb, Chatbot</a:t>
            </a:r>
            <a:endParaRPr lang="en-US" sz="1500" dirty="0"/>
          </a:p>
          <a:p>
            <a:pPr marL="177800" indent="-1778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 200 katalogisierte interaktive Elemente</a:t>
            </a:r>
            <a:endParaRPr lang="en-US" sz="1500" dirty="0"/>
          </a:p>
          <a:p>
            <a:pPr marL="177800" indent="-1778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Dialoge, Overlays, Hash-Routing</a:t>
            </a:r>
            <a:endParaRPr lang="en-US" sz="1500" dirty="0"/>
          </a:p>
          <a:p>
            <a:pPr marL="177800" indent="-1778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Wiederholungen je LLM-Pipeline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995160" y="1828800"/>
            <a:ext cx="4526280" cy="3977640"/>
          </a:xfrm>
          <a:prstGeom prst="roundRect">
            <a:avLst>
              <a:gd name="adj" fmla="val 2759"/>
            </a:avLst>
          </a:prstGeom>
          <a:solidFill>
            <a:srgbClr val="17202B"/>
          </a:solidFill>
          <a:ln/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269480" y="212140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A8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Warum diese App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269480" y="2606040"/>
            <a:ext cx="4023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Realistische, stateful SPA mit echter Tiefe — Formulare, Menüs, Dialoge, Overlays. Genug Oberfläche, um Crawler und LLM-Agent gleichermaßen zu fordern.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269480" y="49377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 per Docker gehostet — reproduzierbar, offline, ohne Rate-Limits.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JETZT LIVE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24688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Live-Demo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640080" y="384048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Streamlit-Oberfläche: Ziel-App wählen → Pipelines laufen lassen → generierte Skripte und Metriken nebeneinander.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5120640"/>
            <a:ext cx="3474720" cy="868680"/>
          </a:xfrm>
          <a:prstGeom prst="roundRect">
            <a:avLst>
              <a:gd name="adj" fmla="val 10526"/>
            </a:avLst>
          </a:prstGeom>
          <a:solidFill>
            <a:srgbClr val="1F2A38"/>
          </a:solidFill>
          <a:ln w="12700">
            <a:solidFill>
              <a:srgbClr val="FF5A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523036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5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91640" y="523036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starten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89120" y="5120640"/>
            <a:ext cx="3474720" cy="868680"/>
          </a:xfrm>
          <a:prstGeom prst="roundRect">
            <a:avLst>
              <a:gd name="adj" fmla="val 10526"/>
            </a:avLst>
          </a:prstGeom>
          <a:solidFill>
            <a:srgbClr val="1F2A38"/>
          </a:solidFill>
          <a:ln w="12700">
            <a:solidFill>
              <a:srgbClr val="FF5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523036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5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440680" y="523036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Skripte vergleichen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138160" y="5120640"/>
            <a:ext cx="3474720" cy="868680"/>
          </a:xfrm>
          <a:prstGeom prst="roundRect">
            <a:avLst>
              <a:gd name="adj" fmla="val 10526"/>
            </a:avLst>
          </a:prstGeom>
          <a:solidFill>
            <a:srgbClr val="1F2A38"/>
          </a:solidFill>
          <a:ln w="12700">
            <a:solidFill>
              <a:srgbClr val="FF5A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523036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5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9189720" y="523036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Ergebnisse lesen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WAS DABEI HERAUSKOMMT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Gleiche Aktion, sehr unterschiedliche Prüfung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49240" cy="3657600"/>
          </a:xfrm>
          <a:prstGeom prst="roundRect">
            <a:avLst>
              <a:gd name="adj" fmla="val 2500"/>
            </a:avLst>
          </a:prstGeom>
          <a:solidFill>
            <a:srgbClr val="141B24"/>
          </a:solidFill>
          <a:ln/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11680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7A8794"/>
          </a:solidFill>
          <a:ln/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01168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Skript_C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423160" y="20116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Juice Shop · „Add to Basket“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96112" y="2606040"/>
            <a:ext cx="48463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6EA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page.goto(".../#/")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6EA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page.get_by_role(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6EA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"button", name="Add to Basket"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6EA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).click()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6EA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expect(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6EA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page.locator("body")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6EA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).to_be_attached()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96112" y="50749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Klickt — prüft aber nichts Fachliches.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783080"/>
            <a:ext cx="5349240" cy="3657600"/>
          </a:xfrm>
          <a:prstGeom prst="roundRect">
            <a:avLst>
              <a:gd name="adj" fmla="val 2500"/>
            </a:avLst>
          </a:prstGeom>
          <a:solidFill>
            <a:srgbClr val="141B24"/>
          </a:solidFill>
          <a:ln/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0" y="2011680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FF5A3C"/>
          </a:solidFill>
          <a:ln/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201168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55280" y="20116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Juice Shop · Produktsuche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28232" y="2606040"/>
            <a:ext cx="48463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6EA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page.get_by_role(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6EA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"button", name="Open search"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6EA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).click()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6EA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input.fill("Apple")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6EA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expect(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6EA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page.get_by_text("Apple Juice (1000ml)")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6EA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).to_be_visible()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28232" y="50749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A8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Verifiziert echtes App-Verhalten.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5806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Crawler ist immer grün — weil seine Prüfung („Body existiert“) fast nie fehlschlägt. Das ist der Kern des Ergebnisses.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ERGEBNISSE · 50 WIEDERHOLUNGEN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Juice Shop: der LLM-Agent führt</a:t>
            </a:r>
            <a:endParaRPr lang="en-US" sz="2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91640"/>
          <a:ext cx="70408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001000" y="1783080"/>
            <a:ext cx="3520440" cy="4297680"/>
          </a:xfrm>
          <a:prstGeom prst="roundRect">
            <a:avLst>
              <a:gd name="adj" fmla="val 3117"/>
            </a:avLst>
          </a:prstGeom>
          <a:solidFill>
            <a:srgbClr val="17202B"/>
          </a:solidFill>
          <a:ln/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75320" y="20574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Ablesbar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275320" y="251460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Methode 1 · C vs L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75320" y="281635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LLM-Agent führt klar: 0.71 vs. 0.60.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275320" y="365760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Methode 2 · S vs H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75320" y="395935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Live-DOM (S 0.66) schlägt Crawler-Map (H 0.60).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275320" y="480060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schlägt statisch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75320" y="510235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Duelle gehen an die live erkundenden Agenten.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METHODE 2 · HYBRID IM DETAIL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68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Grounding, das nicht greift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2880360"/>
          </a:xfrm>
          <a:prstGeom prst="roundRect">
            <a:avLst>
              <a:gd name="adj" fmla="val 3810"/>
            </a:avLst>
          </a:prstGeom>
          <a:solidFill>
            <a:srgbClr val="FBFBFC"/>
          </a:solidFill>
          <a:ln w="12700">
            <a:solidFill>
              <a:srgbClr val="E4E7EB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21408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E0912F"/>
          </a:solidFill>
          <a:ln/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12140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450592" y="212140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LLM-Agent+Story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09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0.66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914400" y="367588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Suitability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566160" y="2697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 s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3566160" y="36758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Gen-Zeit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411480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i="1" dirty="0">
                <a:solidFill>
                  <a:srgbClr val="E09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Live-DOM · 3 Seiten beobachtet · bester LLM-SSR (0.55).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72200" y="1874520"/>
            <a:ext cx="5349240" cy="2880360"/>
          </a:xfrm>
          <a:prstGeom prst="roundRect">
            <a:avLst>
              <a:gd name="adj" fmla="val 3810"/>
            </a:avLst>
          </a:prstGeom>
          <a:solidFill>
            <a:srgbClr val="FBFBFC"/>
          </a:solidFill>
          <a:ln w="12700">
            <a:solidFill>
              <a:srgbClr val="E4E7EB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46520" y="2121408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1FA88F"/>
          </a:solidFill>
          <a:ln/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46520" y="212140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Skript_H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982712" y="212140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46520" y="26974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A8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0.47</a:t>
            </a:r>
            <a:endParaRPr lang="en-US" sz="5400" dirty="0"/>
          </a:p>
        </p:txBody>
      </p:sp>
      <p:sp>
        <p:nvSpPr>
          <p:cNvPr id="18" name="Text 16"/>
          <p:cNvSpPr/>
          <p:nvPr/>
        </p:nvSpPr>
        <p:spPr>
          <a:xfrm>
            <a:off x="6446520" y="367588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Suitability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098280" y="2697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221 s</a:t>
            </a:r>
            <a:endParaRPr lang="en-US" sz="5400" dirty="0"/>
          </a:p>
        </p:txBody>
      </p:sp>
      <p:sp>
        <p:nvSpPr>
          <p:cNvPr id="20" name="Text 18"/>
          <p:cNvSpPr/>
          <p:nvPr/>
        </p:nvSpPr>
        <p:spPr>
          <a:xfrm>
            <a:off x="9098280" y="36758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Gen-Zeit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46520" y="411480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i="1" dirty="0">
                <a:solidFill>
                  <a:srgbClr val="1FA8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Crawler-Map · nur 1 Seite live · teuerste UND schwächste.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502920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17202B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175504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1FA8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H verliert:  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bekommt 212 verifizierte Crawler-Locator — hält sich aber nicht daran und erfindet Namen („Email address“ statt der echten „Text field for the login email“). Grounding wirkt nur als harte Constraint, nicht als bloßer Kontext.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0080" y="61996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Zahlen: Juice Shop, 50 Wiederholungen.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DIE ENTSCHEIDENDE NUANCE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68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100 % grün heißt nicht: gute Tests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2880360"/>
          </a:xfrm>
          <a:prstGeom prst="roundRect">
            <a:avLst>
              <a:gd name="adj" fmla="val 3810"/>
            </a:avLst>
          </a:prstGeom>
          <a:solidFill>
            <a:srgbClr val="FBFBFC"/>
          </a:solidFill>
          <a:ln w="12700">
            <a:solidFill>
              <a:srgbClr val="E4E7EB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21408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7A8794"/>
          </a:solidFill>
          <a:ln/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12140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Skript_C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450592" y="212140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7A87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</a:t>
            </a:r>
            <a:endParaRPr lang="en-US" sz="5800" dirty="0"/>
          </a:p>
        </p:txBody>
      </p:sp>
      <p:sp>
        <p:nvSpPr>
          <p:cNvPr id="9" name="Text 7"/>
          <p:cNvSpPr/>
          <p:nvPr/>
        </p:nvSpPr>
        <p:spPr>
          <a:xfrm>
            <a:off x="914400" y="37033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Pass-Rate (SSR)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520440" y="2697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0.40</a:t>
            </a:r>
            <a:endParaRPr lang="en-US" sz="5800" dirty="0"/>
          </a:p>
        </p:txBody>
      </p:sp>
      <p:sp>
        <p:nvSpPr>
          <p:cNvPr id="11" name="Text 9"/>
          <p:cNvSpPr/>
          <p:nvPr/>
        </p:nvSpPr>
        <p:spPr>
          <a:xfrm>
            <a:off x="3520440" y="3703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Appropriateness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14400" y="41605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Immer grün — aber die Prüfungen sind triviale Smoke-Checks.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72200" y="1874520"/>
            <a:ext cx="5349240" cy="2880360"/>
          </a:xfrm>
          <a:prstGeom prst="roundRect">
            <a:avLst>
              <a:gd name="adj" fmla="val 3810"/>
            </a:avLst>
          </a:prstGeom>
          <a:solidFill>
            <a:srgbClr val="FBFBFC"/>
          </a:solidFill>
          <a:ln w="12700">
            <a:solidFill>
              <a:srgbClr val="E4E7EB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46520" y="2121408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FF5A3C"/>
          </a:solidFill>
          <a:ln/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46520" y="212140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982712" y="212140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LLM-Agent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46520" y="26974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5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0.52</a:t>
            </a:r>
            <a:endParaRPr lang="en-US" sz="5800" dirty="0"/>
          </a:p>
        </p:txBody>
      </p:sp>
      <p:sp>
        <p:nvSpPr>
          <p:cNvPr id="18" name="Text 16"/>
          <p:cNvSpPr/>
          <p:nvPr/>
        </p:nvSpPr>
        <p:spPr>
          <a:xfrm>
            <a:off x="6446520" y="37033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Pass-Rate (SSR)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052560" y="2697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0.89</a:t>
            </a:r>
            <a:endParaRPr lang="en-US" sz="5800" dirty="0"/>
          </a:p>
        </p:txBody>
      </p:sp>
      <p:sp>
        <p:nvSpPr>
          <p:cNvPr id="20" name="Text 18"/>
          <p:cNvSpPr/>
          <p:nvPr/>
        </p:nvSpPr>
        <p:spPr>
          <a:xfrm>
            <a:off x="9052560" y="3703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Appropriateness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46520" y="41605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FF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Seltener grün — aber echte, robuste, benutzerorientierte Tests.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502920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17202B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193792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FF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Kernpunkt:  </a:t>
            </a:r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Pass-Rate allein täuscht. Der Crawler besteht, weil er kaum etwas prüft; der LLM-Agent riskiert Fehlschläge, weil er echtes Verhalten verifiziert. Erst die ISO-Bewertung macht diesen Unterschied sichtbar.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0080" y="61996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Zahlen: Juice Shop, 50 Wiederholungen.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KERNBEFUNDE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9144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Drei belastbare Aussagen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881360" cy="1280160"/>
          </a:xfrm>
          <a:prstGeom prst="roundRect">
            <a:avLst>
              <a:gd name="adj" fmla="val 7143"/>
            </a:avLst>
          </a:prstGeom>
          <a:solidFill>
            <a:srgbClr val="1F2A38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1488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5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194560" y="2167128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schlägt statisch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2194560" y="2651760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Methoden-Duelle gehen an die live erkundenden Agenten: L &gt; C (Methode 1), S &gt; H (Methode 2).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410712"/>
            <a:ext cx="10881360" cy="1280160"/>
          </a:xfrm>
          <a:prstGeom prst="roundRect">
            <a:avLst>
              <a:gd name="adj" fmla="val 7143"/>
            </a:avLst>
          </a:prstGeom>
          <a:solidFill>
            <a:srgbClr val="1F2A38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593592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09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2194560" y="361188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„Grün“ ist nicht „gut“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2194560" y="4096512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Crawler ist zu 100 % grün — über leere Smoke-Prüfungen. Pass-Rate und Assertion-Stärke immer zusammen lesen.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855464"/>
            <a:ext cx="10881360" cy="1280160"/>
          </a:xfrm>
          <a:prstGeom prst="roundRect">
            <a:avLst>
              <a:gd name="adj" fmla="val 7143"/>
            </a:avLst>
          </a:prstGeom>
          <a:solidFill>
            <a:srgbClr val="1F2A38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5038344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A8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2194560" y="505663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 braucht Enforcement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2194560" y="5541264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Crawler-Karte hilft nur, wenn sie die Locator-Wahl hart erzwingt. Als bloßer Kontext ignoriert das Modell sie.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EHRLICHE GRENZEN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68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diese Zahlen nicht sagen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49240" cy="1600200"/>
          </a:xfrm>
          <a:prstGeom prst="roundRect">
            <a:avLst>
              <a:gd name="adj" fmla="val 5714"/>
            </a:avLst>
          </a:prstGeom>
          <a:solidFill>
            <a:srgbClr val="FBFBFC"/>
          </a:solidFill>
          <a:ln w="12700">
            <a:solidFill>
              <a:srgbClr val="E4E7EB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05740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5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Hohe Streuung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48716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Trotz 50 Wiederholungen sind die LLM-Läufe verrauscht (Std bis ±0.19). Kleine Abstände sind nicht signifikant.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72200" y="1828800"/>
            <a:ext cx="5349240" cy="1600200"/>
          </a:xfrm>
          <a:prstGeom prst="roundRect">
            <a:avLst>
              <a:gd name="adj" fmla="val 5714"/>
            </a:avLst>
          </a:prstGeom>
          <a:solidFill>
            <a:srgbClr val="FBFBFC"/>
          </a:solidFill>
          <a:ln w="12700">
            <a:solidFill>
              <a:srgbClr val="E4E7EB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205740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5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Modell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92240" y="248716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kimi-k2.7 als Generator, glm-5.2 als Judge. Andere Modelle können die Reihenfolge verschieben.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657600"/>
            <a:ext cx="5349240" cy="1600200"/>
          </a:xfrm>
          <a:prstGeom prst="roundRect">
            <a:avLst>
              <a:gd name="adj" fmla="val 5714"/>
            </a:avLst>
          </a:prstGeom>
          <a:solidFill>
            <a:srgbClr val="FBFBFC"/>
          </a:solidFill>
          <a:ln w="12700">
            <a:solidFill>
              <a:srgbClr val="E4E7EB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60120" y="388620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5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LLM-as-Judge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960120" y="431596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semantische Bewertung ist selbst ein (stochastisches) LLM — kein objektiver Goldstandard.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72200" y="3657600"/>
            <a:ext cx="5349240" cy="1600200"/>
          </a:xfrm>
          <a:prstGeom prst="roundRect">
            <a:avLst>
              <a:gd name="adj" fmla="val 5714"/>
            </a:avLst>
          </a:prstGeom>
          <a:solidFill>
            <a:srgbClr val="FBFBFC"/>
          </a:solidFill>
          <a:ln w="12700">
            <a:solidFill>
              <a:srgbClr val="E4E7EB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88620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5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 App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492240" y="431596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Getestet auf OWASP Juice Shop — die Breite realer Web-Apps ist damit noch nicht abgedeckt.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berichten Mittelwerte ± Standardabweichung — und nennen den robusten Kern (L ≥ C) getrennt von unentschiedenen Details.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7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BEDEUTUNG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118872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LLM-Agenten sind eine ernstzunehmende, </a:t>
            </a:r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5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qualitativ höherwertige</a:t>
            </a:r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Alternative zum klassischen Crawler.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1546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A8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Für die Praxis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840480" y="3136392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aussagekräftige UI-Tests will, fährt mit dem LLM-Agenten besser — auch bei etwas mehr Flakiness.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40080" y="4142232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A8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Für die Methode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840480" y="4123944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Erdung über eine Crawler-Karte war hier kein Hebel. Der Agent explorierte selbst gut genug.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640080" y="5129784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A8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Für die Messung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0" y="5111496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Pass-Rate allein ist irreführend. Erst eine mehrdimensionale, ISO-basierte Bewertung zeigt die Wahrheit.</a:t>
            </a:r>
            <a:endParaRPr lang="en-US" sz="15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22860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Danke.</a:t>
            </a:r>
            <a:endParaRPr lang="en-US" sz="66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 &amp; Diskussion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9AA7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Timon Fricke · Philippos Melikidis   ·   HHZ   ·   pytest · Playwright · ISO/IEC 25010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869680" y="2514600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7A8794"/>
          </a:solidFill>
          <a:ln/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869680" y="25146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Skript_C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0469880" y="2514600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FF5A3C"/>
          </a:solidFill>
          <a:ln/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469880" y="25146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869680" y="3081528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0912F"/>
          </a:solidFill>
          <a:ln/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9680" y="30815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469880" y="3081528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1FA88F"/>
          </a:solidFill>
          <a:ln/>
          <a:effectLst>
            <a:outerShdw sx="100000" sy="100000" kx="0" ky="0" algn="bl" rotWithShape="0" blurRad="114300" dist="38100" dir="5400000">
              <a:srgbClr val="9AA7B4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469880" y="30815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Skript_H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2026-07-13T17:21:16Z</dcterms:created>
  <dcterms:modified xsi:type="dcterms:W3CDTF">2026-07-13T17:21:16Z</dcterms:modified>
</cp:coreProperties>
</file>