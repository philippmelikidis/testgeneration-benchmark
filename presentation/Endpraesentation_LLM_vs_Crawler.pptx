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 Functional Suitability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7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A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91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7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8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Skript_L</c:v>
                  </c:pt>
                  <c:pt idx="1">
                    <c:v>Skript_S</c:v>
                  </c:pt>
                  <c:pt idx="2">
                    <c:v>Skript_C</c:v>
                  </c:pt>
                  <c:pt idx="3">
                    <c:v>Skript_H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0.709</c:v>
                </c:pt>
                <c:pt idx="1">
                  <c:v>0.656</c:v>
                </c:pt>
                <c:pt idx="2">
                  <c:v>0.6</c:v>
                </c:pt>
                <c:pt idx="3">
                  <c:v>0.6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7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7202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Endpräsentation. Kernfrage: schlägt ein LLM-Agent den klassischen Crawler beim automatischen Schreiben von Web-UI-Tests?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Bachelorarbeit · Hochschule Reutlingen · 15.07.2026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201168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eine KI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Web-UI-Tests schreiben?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empirischer Vergleich: LLM-Agent gegen klassischen Crawler bei der automatischen Testfallgenerierung für Web-Oberflächen.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Fricke · Philippos Melikidis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784080" y="2148840"/>
            <a:ext cx="1737360" cy="603504"/>
          </a:xfrm>
          <a:prstGeom prst="roundRect">
            <a:avLst>
              <a:gd name="adj" fmla="val 15152"/>
            </a:avLst>
          </a:prstGeom>
          <a:solidFill>
            <a:srgbClr val="1F2A38"/>
          </a:solidFill>
          <a:ln w="15875">
            <a:solidFill>
              <a:srgbClr val="7A87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30384" y="2203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30384" y="2459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784080" y="2935224"/>
            <a:ext cx="1737360" cy="603504"/>
          </a:xfrm>
          <a:prstGeom prst="roundRect">
            <a:avLst>
              <a:gd name="adj" fmla="val 15152"/>
            </a:avLst>
          </a:prstGeom>
          <a:solidFill>
            <a:srgbClr val="1F2A38"/>
          </a:solidFill>
          <a:ln w="15875">
            <a:solidFill>
              <a:srgbClr val="FF5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30384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0384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784080" y="3721608"/>
            <a:ext cx="1737360" cy="603504"/>
          </a:xfrm>
          <a:prstGeom prst="roundRect">
            <a:avLst>
              <a:gd name="adj" fmla="val 15152"/>
            </a:avLst>
          </a:prstGeom>
          <a:solidFill>
            <a:srgbClr val="1F2A38"/>
          </a:solidFill>
          <a:ln w="15875">
            <a:solidFill>
              <a:srgbClr val="E091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0384" y="3776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0384" y="4032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LLM-Agent+Story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784080" y="4507992"/>
            <a:ext cx="1737360" cy="603504"/>
          </a:xfrm>
          <a:prstGeom prst="roundRect">
            <a:avLst>
              <a:gd name="adj" fmla="val 15152"/>
            </a:avLst>
          </a:prstGeom>
          <a:solidFill>
            <a:srgbClr val="1F2A38"/>
          </a:solidFill>
          <a:ln w="15875">
            <a:solidFill>
              <a:srgbClr val="1FA8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30384" y="4562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30384" y="4818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UI-Tests von Hand zu schreiben ist teuer — und veraltet schnell.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660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Aufwändig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26426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Klickpfad, jeder Selektor, jede Prüfung — manuell formuliert und gepflegt.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Brüchig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34838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umbenannter Button, ein neues Layout — und ganze Test-Suiten brechen.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nicht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325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SPAs (Angular, React) haben hunderte interaktive Elemente pro Seite.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81160" y="960120"/>
            <a:ext cx="2331720" cy="4937760"/>
          </a:xfrm>
          <a:prstGeom prst="roundRect">
            <a:avLst>
              <a:gd name="adj" fmla="val 4706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Idee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16916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Maschine erkundet die App selbst und erzeugt die Testsuite.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9760" y="42062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 per Crawler — oder mit einem LLM-Agenten. Was ist besser?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FORSCHUNGSFRAGE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Fragen treiben die Arbeit.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F2A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468880" y="2542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Schlägt der LLM-Agent den Crawler?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3154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identischer, anforderungsfreier Aufgabe — App autonom erkunden und eine Testsuite erzeugen.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F2A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348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468880" y="44622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Hilft die Kombination?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5074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Bringt es Vorteile, den LLM-Agenten mit der Karte des Crawlers (Routen + echte Locator) zu erden?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WIR GEBAUT HABEN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Wege, dieselbe Testsuite zu erzeugen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391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A879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traditionell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Crawler klickt die App autonom durch, baut einen Zustandsgraphen und serialisiert ihn zu einem pytest-Skript.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ohne User-Story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5888" y="20391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75888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7588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LLM-only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7588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LLM-Agent bekommt dieselbe Aufgabe: die App selbst erkunden und eine Testsuite schreiben.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588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ohne User-Story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20391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0912F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LLM-Agent+Story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052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LLM-only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1052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LLM-Agent — bekommt zusätzlich die User-Stories und testet sie direkt.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User-Story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45168" y="20391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FA88F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45168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45168" y="25694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45168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Aufsatz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45168" y="3264408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LLM-Agent, geseedet mit der Crawler-Karte (echte Routen + Locator). Erdet die Story-Tests in real existierenden Selektoren.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45168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User-Story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C vs. L isoliert die Methode · S vs. H isoliert den Nutzen der Crawler-Erdung.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STUDIENDESIGN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Anforderungswissen als Trennlinie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Fairer A/B — ohne Anforderungen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und LLM-Agent bekommen exakt dieselbe Aufgabe. Keiner sieht die User-Stories. Gemessen wird rein die Generierungsmethode.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4805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A879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480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44805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4480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4480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— Erdung trifft Story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46520" y="297180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Hybrid ist ein live explorierender LLM-Agent (wie S), zusätzlich geseedet mit der Crawler-Karte: entdeckte Routen und echte, verifizierte Locator aus Skript_C.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46520" y="45262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FA88F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5262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4526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Hypothese: H schlägt C und 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Bewertung: C/L intrinsisch (sahen keine Stories) · S/H story-bewusst.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Rahmen, drei Generatoren, eine Messung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Ziel-App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743200" cy="713232"/>
          </a:xfrm>
          <a:prstGeom prst="roundRect">
            <a:avLst>
              <a:gd name="adj" fmla="val 11538"/>
            </a:avLst>
          </a:prstGeom>
          <a:solidFill>
            <a:srgbClr val="FBFBFC"/>
          </a:solidFill>
          <a:ln w="15875">
            <a:solidFill>
              <a:srgbClr val="7A8794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020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10712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· traditionell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788920"/>
            <a:ext cx="2743200" cy="713232"/>
          </a:xfrm>
          <a:prstGeom prst="roundRect">
            <a:avLst>
              <a:gd name="adj" fmla="val 11538"/>
            </a:avLst>
          </a:prstGeom>
          <a:solidFill>
            <a:srgbClr val="FBFBFC"/>
          </a:solidFill>
          <a:ln w="15875">
            <a:solidFill>
              <a:srgbClr val="FF5A3C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2843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10712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 · LLM-only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611880"/>
            <a:ext cx="2743200" cy="713232"/>
          </a:xfrm>
          <a:prstGeom prst="roundRect">
            <a:avLst>
              <a:gd name="adj" fmla="val 11538"/>
            </a:avLst>
          </a:prstGeom>
          <a:solidFill>
            <a:srgbClr val="FBFBFC"/>
          </a:solidFill>
          <a:ln w="15875">
            <a:solidFill>
              <a:srgbClr val="1FA88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3666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· Aufsatz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wie L, zusätzlich mit Story)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5875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pytest-</a:t>
            </a:r>
            <a:endParaRPr lang="en-US" sz="1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Ausführung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310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Execute-verify-repair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210312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BFBFC"/>
          </a:solidFill>
          <a:ln w="15875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2212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Metrik-Suite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 + LLM-as-Judge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0" y="315468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25010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0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2916936"/>
            <a:ext cx="640080" cy="0"/>
          </a:xfrm>
          <a:prstGeom prst="line">
            <a:avLst/>
          </a:prstGeom>
          <a:noFill/>
          <a:ln w="22225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89320" y="3017520"/>
            <a:ext cx="320040" cy="0"/>
          </a:xfrm>
          <a:prstGeom prst="line">
            <a:avLst/>
          </a:prstGeom>
          <a:noFill/>
          <a:ln w="22225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03920" y="3017520"/>
            <a:ext cx="137160" cy="0"/>
          </a:xfrm>
          <a:prstGeom prst="line">
            <a:avLst/>
          </a:prstGeom>
          <a:noFill/>
          <a:ln w="22225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Portables Design.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Provider-Abstraktion (Ollama lokal/Cloud, OpenAI, Gemini) und ein JSON-Aktionsprotokoll statt vendor-spezifischem Function-Calling — kleine lokale Modelle laufen genauso wie gehostete. Der Agent exploriert über den offiziellen Playwright-MCP-Server.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WIE WIR BEWERTEN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Gemeinsame Metrik-Suite → ISO 25010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 Ausführung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(SSR), ausgeführte Element-Coverage, Flakiness — deterministisch gemessen.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553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DeepEval G-Eval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8646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Appropriateness, Hallucination, Readability — semantisch bewertet.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121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Suitability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 aus drei Subcharakteristiken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3063240"/>
            <a:ext cx="4572000" cy="786384"/>
          </a:xfrm>
          <a:prstGeom prst="roundRect">
            <a:avLst>
              <a:gd name="adj" fmla="val 8140"/>
            </a:avLst>
          </a:prstGeom>
          <a:solidFill>
            <a:srgbClr val="1F2A3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34655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Halten die Prüfungen? (Pass-Rate + Judge)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941064"/>
            <a:ext cx="4572000" cy="786384"/>
          </a:xfrm>
          <a:prstGeom prst="roundRect">
            <a:avLst>
              <a:gd name="adj" fmla="val 8140"/>
            </a:avLst>
          </a:prstGeom>
          <a:solidFill>
            <a:srgbClr val="1F2A3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032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343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der geforderten Stories wird verifiziert?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818888"/>
            <a:ext cx="4572000" cy="786384"/>
          </a:xfrm>
          <a:prstGeom prst="roundRect">
            <a:avLst>
              <a:gd name="adj" fmla="val 8140"/>
            </a:avLst>
          </a:prstGeom>
          <a:solidFill>
            <a:srgbClr val="1F2A3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910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5221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Robuste, benutzerorientierte Locator &amp; Prüfungen?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Stories dienen als einheitlicher Maßstab für alle vier Artefakte — auch für die story-frei erzeugten.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ZIEL-ANWENDUNG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Juice Shop als Prüfstand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126480" cy="3977640"/>
          </a:xfrm>
          <a:prstGeom prst="roundRect">
            <a:avLst>
              <a:gd name="adj" fmla="val 2759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384048" cy="384048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6" name="Text 4"/>
          <p:cNvSpPr/>
          <p:nvPr/>
        </p:nvSpPr>
        <p:spPr>
          <a:xfrm>
            <a:off x="1572768" y="21762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Juice Shop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Komplexe Angular-SPA · E-Commerce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Registrierung, Suche, Warenkorb, Chatbot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200 katalogisierte interaktive Elemente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Dialoge, Overlays, Hash-Routing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Wiederholungen je LLM-Pipeline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4526280" cy="3977640"/>
          </a:xfrm>
          <a:prstGeom prst="roundRect">
            <a:avLst>
              <a:gd name="adj" fmla="val 2759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69480" y="2121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 diese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26060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Realistische, stateful SPA mit echter Tiefe — Formulare, Menüs, Dialoge, Overlays. Genug Oberfläche, um Crawler und LLM-Agent gleichermaßen zu fordern.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4937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per Docker gehostet — reproduzierbar, offline, ohne Rate-Limits.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JETZT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Streamlit-Oberfläche: Ziel-App wählen → Pipelines laufen lassen → generierte Skripte und Metriken nebeneinander.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9164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starten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512064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4068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Skripte vergleichen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38160" y="512064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1F2A38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5230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89720" y="5230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lesen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 DABEI HERAUSKOMMT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Gleiche Aktion, sehr unterschiedliche Prüfung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41B2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A879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2011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· „Add to Basket“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0604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page.goto(".../#/")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page.get_by_role(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"button", name="Add to Basket"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).click()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page.locator("body")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).to_be_attached()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Klickt — prüft aber nichts Fachliches.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41B2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116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011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2011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· Produktsuche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60604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page.get_by_role(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"button", name="Open search"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).click()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input.fill("Apple")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page.get_by_text("Apple Juice (1000ml)")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).to_be_visible()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 echtes App-Verhalten.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Crawler ist immer grün — weil seine Prüfung („Body existiert“) fast nie fehlschlägt. Das ist der Kern des Ergebnisses.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ERGEBNISSE · 50 WIEDERHOLUNGEN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Juice Shop: der LLM-Agent führt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7202B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Ablesbar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2514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schlägt 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7532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vs. 0.60 — der reine LLM-Agent liegt klar vorn.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7532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gewinnt nicht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5320" y="3959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Hybrid landet nur auf Crawler-Niveau (0.60).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7532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hilft L nicht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75320" y="5102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(0.66) liegt unter L (0.71).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 ENTSCHEIDENDE NUANCE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 grün heißt nicht: gute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A879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50592" y="2121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7A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(SSR)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5204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grün — aber die Prüfungen sind triviale Smoke-Checks.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1214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121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82712" y="2121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(SSR)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5256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90525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Seltener grün — aber echte, robuste, benutzerorientierte Tests.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720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9379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Kernpunkt: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Pass-Rate allein täuscht. Der Crawler besteht, weil er kaum etwas prüft; der LLM-Agent riskiert Fehlschläge, weil er echtes Verhalten verifiziert. Erst die ISO-Bewertung macht diesen Unterschied sichtbar.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199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Zahlen: Juice Shop, 50 Wiederholungen.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KERNBEFUNDE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belastbare Aussagen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F2A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94560" y="21671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LLM-Agent schlägt Crawler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94560" y="26517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reine LLM-Agent übertrifft den klassischen Crawler deutlich — 0.71 vs. 0.60 ISO Functional Suitability.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F2A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935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19456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gewinnt nicht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194560" y="409651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Crawler-Erdung + Story hebt die Suite nicht über den reinen Agenten. Die Hypothese wird nicht bestätigt.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F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3834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94560" y="50566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Qualität vs. Zuverlässigkeit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194560" y="554126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Crawler ist zuverlässig-aber-flach, der LLM-Agent aussagekräftig-aber-flakiger. Ein echter Trade-off.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EHRLICHE GRENZEN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diese Zahlen nicht sagen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Hohe Streuung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Trotz 50 Wiederholungen sind die LLM-Läufe verrauscht (Std bis ±0.19). Kleine Abstände sind nicht signifikant.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Modell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487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kimi-k2.7 als Generator, glm-5.2 als Judge. Andere Modelle können die Reihenfolge verschieben.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43159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semantische Bewertung ist selbst ein (stochastisches) LLM — kein objektiver Goldstandard.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BFBFC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App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43159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 auf OWASP Juice Shop — die Breite realer Web-Apps ist damit noch nicht abgedeckt.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berichten Mittelwerte ± Standardabweichung — und nennen den robusten Kern (L ≥ C) getrennt von unentschiedenen Details.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BEDEUTUNG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11887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LLM-Agenten sind eine ernstzunehmende, 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 höherwertige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Alternative zum klassischen Crawler.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Für die Praxis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313639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aussagekräftige UI-Tests will, fährt mit dem LLM-Agenten besser — auch bei etwas mehr Flakiness.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42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Für die Methode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41239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Erdung über eine Crawler-Karte war hier kein Hebel. Der Agent explorierte selbst gut genug.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1297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Für die Messung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511149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allein ist irreführend. Erst eine mehrdimensionale, ISO-basierte Bewertung zeigt die Wahrheit.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Erik Fricke · Philippos Melikidis   ·   Hochschule Reutlingen   ·   pytest · Playwright · ISO/IEC 25010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869680" y="25146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7A8794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0" y="2514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469880" y="25146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69880" y="2514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0" y="308152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0912F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9680" y="3081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469880" y="308152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FA88F"/>
          </a:solidFill>
          <a:ln/>
          <a:effectLst>
            <a:outerShdw sx="100000" sy="100000" kx="0" ky="0" algn="bl" rotWithShape="0" blurRad="114300" dist="381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469880" y="3081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Skript_H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2026-07-13T16:59:00Z</dcterms:created>
  <dcterms:modified xsi:type="dcterms:W3CDTF">2026-07-13T16:59:00Z</dcterms:modified>
</cp:coreProperties>
</file>