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5" r:id="rId7"/>
    <p:sldId id="274" r:id="rId8"/>
    <p:sldId id="263" r:id="rId9"/>
    <p:sldId id="264" r:id="rId10"/>
    <p:sldId id="265" r:id="rId11"/>
    <p:sldId id="266" r:id="rId12"/>
    <p:sldId id="267" r:id="rId13"/>
    <p:sldId id="276" r:id="rId14"/>
    <p:sldId id="269" r:id="rId15"/>
    <p:sldId id="270" r:id="rId16"/>
    <p:sldId id="271" r:id="rId17"/>
    <p:sldId id="277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0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Skript_C</c:v>
                </c:pt>
              </c:strCache>
            </c:strRef>
          </c:tx>
          <c:spPr>
            <a:solidFill>
              <a:srgbClr val="7A879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Completeness</c:v>
                </c:pt>
                <c:pt idx="2">
                  <c:v>Appropriateness</c:v>
                </c:pt>
                <c:pt idx="3">
                  <c:v>Readability</c:v>
                </c:pt>
                <c:pt idx="4">
                  <c:v>FuncSuit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D-EB49-AD9D-86C4E16500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Skript_L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Completeness</c:v>
                </c:pt>
                <c:pt idx="2">
                  <c:v>Appropriateness</c:v>
                </c:pt>
                <c:pt idx="3">
                  <c:v>Readability</c:v>
                </c:pt>
                <c:pt idx="4">
                  <c:v>FuncSuit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0.52300000000000002</c:v>
                </c:pt>
                <c:pt idx="1">
                  <c:v>0.56299999999999994</c:v>
                </c:pt>
                <c:pt idx="2">
                  <c:v>0.89400000000000002</c:v>
                </c:pt>
                <c:pt idx="3">
                  <c:v>0.90400000000000003</c:v>
                </c:pt>
                <c:pt idx="4">
                  <c:v>0.70899999999999996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DD-EB49-AD9D-86C4E16500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Skript_S</c:v>
                </c:pt>
              </c:strCache>
            </c:strRef>
          </c:tx>
          <c:spPr>
            <a:solidFill>
              <a:srgbClr val="E0912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Completeness</c:v>
                </c:pt>
                <c:pt idx="2">
                  <c:v>Correctness</c:v>
                </c:pt>
                <c:pt idx="3">
                  <c:v>Appropriateness</c:v>
                </c:pt>
                <c:pt idx="4">
                  <c:v>FuncSuit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0.54300000000000004</c:v>
                </c:pt>
                <c:pt idx="2">
                  <c:v>0.78200000000000003</c:v>
                </c:pt>
                <c:pt idx="3">
                  <c:v>0.75800000000000001</c:v>
                </c:pt>
                <c:pt idx="4">
                  <c:v>0.65600000000000003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5-BD4D-85DE-04BB3B9FFF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Skript_H</c:v>
                </c:pt>
              </c:strCache>
            </c:strRef>
          </c:tx>
          <c:spPr>
            <a:solidFill>
              <a:srgbClr val="1FA8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Completeness</c:v>
                </c:pt>
                <c:pt idx="2">
                  <c:v>Correctness</c:v>
                </c:pt>
                <c:pt idx="3">
                  <c:v>Appropriateness</c:v>
                </c:pt>
                <c:pt idx="4">
                  <c:v>FuncSuit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</c:v>
                </c:pt>
                <c:pt idx="1">
                  <c:v>0.46700000000000003</c:v>
                </c:pt>
                <c:pt idx="2">
                  <c:v>0.77</c:v>
                </c:pt>
                <c:pt idx="3">
                  <c:v>0.71399999999999997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D5-BD4D-85DE-04BB3B9FFF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SSR (Pass-Rate) ↑</c:v>
                </c:pt>
              </c:strCache>
            </c:strRef>
          </c:tx>
          <c:spPr>
            <a:solidFill>
              <a:srgbClr val="1720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Skript_C</c:v>
                </c:pt>
                <c:pt idx="1">
                  <c:v>Skript_L</c:v>
                </c:pt>
                <c:pt idx="2">
                  <c:v>Skript_S</c:v>
                </c:pt>
                <c:pt idx="3">
                  <c:v>Skript_H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0.52300000000000002</c:v>
                </c:pt>
                <c:pt idx="2">
                  <c:v>0.55000000000000004</c:v>
                </c:pt>
                <c:pt idx="3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5-2144-B19D-97ADD878E5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 Completeness ↑</c:v>
                </c:pt>
              </c:strCache>
            </c:strRef>
          </c:tx>
          <c:spPr>
            <a:solidFill>
              <a:srgbClr val="9AA7B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Skript_C</c:v>
                </c:pt>
                <c:pt idx="1">
                  <c:v>Skript_L</c:v>
                </c:pt>
                <c:pt idx="2">
                  <c:v>Skript_S</c:v>
                </c:pt>
                <c:pt idx="3">
                  <c:v>Skript_H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0.56299999999999994</c:v>
                </c:pt>
                <c:pt idx="2">
                  <c:v>0.54300000000000004</c:v>
                </c:pt>
                <c:pt idx="3">
                  <c:v>0.46700000000000003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D5-2144-B19D-97ADD878E5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Skript_L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SSR</c:v>
                </c:pt>
                <c:pt idx="1">
                  <c:v>Completeness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0.52300000000000002</c:v>
                </c:pt>
                <c:pt idx="1">
                  <c:v>0.56299999999999994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9B-FB4F-84D1-24A64B8E13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Skript_S</c:v>
                </c:pt>
              </c:strCache>
            </c:strRef>
          </c:tx>
          <c:spPr>
            <a:solidFill>
              <a:srgbClr val="E0912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SSR</c:v>
                </c:pt>
                <c:pt idx="1">
                  <c:v>Completeness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0.55000000000000004</c:v>
                </c:pt>
                <c:pt idx="1">
                  <c:v>0.54300000000000004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9B-FB4F-84D1-24A64B8E13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Skript_L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# Tests</c:v>
                </c:pt>
                <c:pt idx="1">
                  <c:v>genutzte Coverage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9C-B44C-A140-67009489B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Skript_S</c:v>
                </c:pt>
              </c:strCache>
            </c:strRef>
          </c:tx>
          <c:spPr>
            <a:solidFill>
              <a:srgbClr val="E0912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# Tests</c:v>
                </c:pt>
                <c:pt idx="1">
                  <c:v>genutzte Coverage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9C-B44C-A140-67009489B4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Skript_L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# Tests</c:v>
                </c:pt>
                <c:pt idx="2">
                  <c:v>FuncSuit</c:v>
                </c:pt>
                <c:pt idx="3">
                  <c:v>Completeness</c:v>
                </c:pt>
                <c:pt idx="4">
                  <c:v>Gen-Zeit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16</c:v>
                </c:pt>
                <c:pt idx="2">
                  <c:v>12</c:v>
                </c:pt>
                <c:pt idx="3">
                  <c:v>34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E-4C4C-A9D1-23E1395F84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Skript_S</c:v>
                </c:pt>
              </c:strCache>
            </c:strRef>
          </c:tx>
          <c:spPr>
            <a:solidFill>
              <a:srgbClr val="E0912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# Tests</c:v>
                </c:pt>
                <c:pt idx="2">
                  <c:v>FuncSuit</c:v>
                </c:pt>
                <c:pt idx="3">
                  <c:v>Completeness</c:v>
                </c:pt>
                <c:pt idx="4">
                  <c:v>Gen-Zeit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</c:v>
                </c:pt>
                <c:pt idx="1">
                  <c:v>0</c:v>
                </c:pt>
                <c:pt idx="2">
                  <c:v>14</c:v>
                </c:pt>
                <c:pt idx="3">
                  <c:v>25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7E-4C4C-A9D1-23E1395F84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Skript_H</c:v>
                </c:pt>
              </c:strCache>
            </c:strRef>
          </c:tx>
          <c:spPr>
            <a:solidFill>
              <a:srgbClr val="1FA88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202B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SSR</c:v>
                </c:pt>
                <c:pt idx="1">
                  <c:v># Tests</c:v>
                </c:pt>
                <c:pt idx="2">
                  <c:v>FuncSuit</c:v>
                </c:pt>
                <c:pt idx="3">
                  <c:v>Completeness</c:v>
                </c:pt>
                <c:pt idx="4">
                  <c:v>Gen-Zeit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0</c:v>
                </c:pt>
                <c:pt idx="2">
                  <c:v>19</c:v>
                </c:pt>
                <c:pt idx="3">
                  <c:v>41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7E-4C4C-A9D1-23E1395F84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8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58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Machine Learning · HHZ · 15.07.2026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201168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eine KI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Web-UI-Tests schreiben?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empirischer Vergleich: LLM-Agent gegen klassischen Crawler bei der automatischen Testfallgenerierung für Web-Oberflächen.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Timon Fricke · Philippos Melikidis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784080" y="2148840"/>
            <a:ext cx="1737360" cy="603504"/>
          </a:xfrm>
          <a:prstGeom prst="rect">
            <a:avLst/>
          </a:prstGeom>
          <a:solidFill>
            <a:srgbClr val="1F2A38"/>
          </a:solidFill>
          <a:ln w="12700">
            <a:solidFill>
              <a:srgbClr val="7A87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930384" y="2203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30384" y="2459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784080" y="2935224"/>
            <a:ext cx="1737360" cy="603504"/>
          </a:xfrm>
          <a:prstGeom prst="rect">
            <a:avLst/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930384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0384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784080" y="3721608"/>
            <a:ext cx="1737360" cy="603504"/>
          </a:xfrm>
          <a:prstGeom prst="rect">
            <a:avLst/>
          </a:prstGeom>
          <a:solidFill>
            <a:srgbClr val="1F2A38"/>
          </a:solidFill>
          <a:ln w="12700">
            <a:solidFill>
              <a:srgbClr val="E091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930384" y="3776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0384" y="4032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LLM-Agent+Story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784080" y="4507992"/>
            <a:ext cx="1737360" cy="603504"/>
          </a:xfrm>
          <a:prstGeom prst="rect">
            <a:avLst/>
          </a:prstGeom>
          <a:solidFill>
            <a:srgbClr val="1F2A38"/>
          </a:solidFill>
          <a:ln w="12700">
            <a:solidFill>
              <a:srgbClr val="1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930384" y="4562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30384" y="4818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 WIR HERKOMMEN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SLR in 60 Sekunden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Primärstudien — bereits präsentiert; hier nur die Brücke zum Experiment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Kernbefunde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94960" cy="86868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468880" y="2514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Primärstudien: 11 LLM-basiert, 10 traditionell, 1 hybrid — alle LLM-Studien ab 2024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5394960" cy="86868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8680" y="355701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Traditionell misst Coverage &amp; Mutation Score — LLM misst SSR &amp; Angemessenheit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5394960" cy="86868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68680" y="45811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4562856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manueller Anpassungsaufwand bei LLM-Tests — attraktiv, Review bleibt Pflicht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Lücke, die wir jetzt schließen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423160"/>
            <a:ext cx="5166360" cy="1417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583680" y="257860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Forschungslücke Nr. 1:  </a:t>
            </a: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fehlen direkte LLM-vs-traditionell-Vergleiche auf identischen Benchmarks und Metrik-Sets — genau das liefert dieses Experiment.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023360"/>
            <a:ext cx="5166360" cy="141732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583680" y="42062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 Experiment
</a:t>
            </a: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 · 1 SUT · 1 Metrik-Set · 50 Wiederholungen — plus Flakiness-Messung (Lücke Nr. 2)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Ergänzend adressiert: Lücke Nr. 6 (Hybrid-Designspace) — Skript_H testet genau eine solche Kombination.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UI-Tests von Hand zu schreiben ist teuer — und veraltet schnell.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2660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Aufwändig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23360" y="26426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Klickpfad, jeder Selektor, jede Prüfung — manuell formuliert und gepflegt.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Brüchig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34838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umbenannter Button, ein neues Layout — und ganze Test-Suiten brechen.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nicht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0" y="4325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SPAs (Angular, React) haben hunderte interaktive Elemente pro Seite.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0" y="960120"/>
            <a:ext cx="2331720" cy="493776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5097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Idee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169164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Maschine erkundet die App selbst und erzeugt die Testsuite.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09760" y="4206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 per Crawler — oder mit einem LLM-Agenten. Was ist besser?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FORSCHUNGSFRAGE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Fragen treiben die Arbeit.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69164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468880" y="2542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Schlägt der LLM-Agent den Crawler?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3154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identischer, anforderungsfreier Aufgabe — App autonom erkunden und eine Testsuite erzeugen.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0881360" cy="169164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468880" y="44622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Hilft die Kombination?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5074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Bringt es Vorteile, den LLM-Agenten mit der Karte des Crawlers (Routen + echte Locator) zu erden?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WIR GEBAUT HABEN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Wege, dieselbe Testsuite zu erzeugen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4160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41248" y="2039112"/>
            <a:ext cx="1417320" cy="384048"/>
          </a:xfrm>
          <a:prstGeom prst="rect">
            <a:avLst/>
          </a:prstGeom>
          <a:solidFill>
            <a:srgbClr val="7A879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traditionell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Crawler klickt die App autonom durch, baut einen Zustandsgraphen und serialisiert ihn zu einem pytest-Skript.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ohne User-Story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670048" cy="4160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75888" y="2039112"/>
            <a:ext cx="1417320" cy="384048"/>
          </a:xfrm>
          <a:prstGeom prst="rect">
            <a:avLst/>
          </a:prstGeom>
          <a:solidFill>
            <a:srgbClr val="FF5A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7588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7588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LLM-Agent bekommt dieselbe Aufgabe: die App selbst erkunden und eine Testsuite schreiben.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588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ohne User-Story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2670048" cy="4160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510528" y="2039112"/>
            <a:ext cx="1417320" cy="384048"/>
          </a:xfrm>
          <a:prstGeom prst="rect">
            <a:avLst/>
          </a:prstGeom>
          <a:solidFill>
            <a:srgbClr val="E091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LLM-Agent+Story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052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LLM-Agent — bekommt zusätzlich die User-Stories und testet sie direkt.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User-Story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1783080"/>
            <a:ext cx="2670048" cy="4160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345168" y="2039112"/>
            <a:ext cx="1417320" cy="384048"/>
          </a:xfrm>
          <a:prstGeom prst="rect">
            <a:avLst/>
          </a:prstGeom>
          <a:solidFill>
            <a:srgbClr val="1FA8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4516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4516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Aufsatz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4516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LLM-Agent, geseedet mit der Crawler-Karte (echte Routen + Locator). Erdet die Story-Tests in real existierenden Selektoren.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4516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User-Story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C vs. L isoliert die Methode · S vs. H isoliert den Nutzen der Crawler-Erdung.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STUDIENDESIGN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Anforderungswissen als Trennlinie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Fairer A/B — ohne Anforderungen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und LLM-Agent bekommen exakt dieselbe Aufgabe. Keiner sieht die User-Stories. Gemessen wird rein die Generierungsmethode.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417320" cy="384048"/>
          </a:xfrm>
          <a:prstGeom prst="rect">
            <a:avLst/>
          </a:prstGeom>
          <a:solidFill>
            <a:srgbClr val="7A879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4480560"/>
            <a:ext cx="1417320" cy="384048"/>
          </a:xfrm>
          <a:prstGeom prst="rect">
            <a:avLst/>
          </a:prstGeom>
          <a:solidFill>
            <a:srgbClr val="FF5A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4480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402336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— Erdung trifft Story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Hybrid ist ein live explorierender LLM-Agent (wie S), zusätzlich geseedet mit der Crawler-Karte: entdeckte Routen und echte, verifizierte Locator aus Skript_C.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526280"/>
            <a:ext cx="1417320" cy="384048"/>
          </a:xfrm>
          <a:prstGeom prst="rect">
            <a:avLst/>
          </a:prstGeom>
          <a:solidFill>
            <a:srgbClr val="1FA8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1600" y="5054600"/>
            <a:ext cx="474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Hypothese: H schlägt C, L und 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Bewertung: C/L intrinsisch (sahen keine Stories) · S/H story-bewusst.</a:t>
            </a:r>
            <a:endParaRPr lang="en-US" sz="1350" dirty="0"/>
          </a:p>
        </p:txBody>
      </p:sp>
      <p:sp>
        <p:nvSpPr>
          <p:cNvPr id="50" name="Badge Skript_S"/>
          <p:cNvSpPr/>
          <p:nvPr/>
        </p:nvSpPr>
        <p:spPr>
          <a:xfrm>
            <a:off x="8483600" y="4521200"/>
            <a:ext cx="1417320" cy="384048"/>
          </a:xfrm>
          <a:prstGeom prst="rect">
            <a:avLst/>
          </a:prstGeom>
          <a:solidFill>
            <a:srgbClr val="E091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51" name="Text vs rechts"/>
          <p:cNvSpPr/>
          <p:nvPr/>
        </p:nvSpPr>
        <p:spPr>
          <a:xfrm>
            <a:off x="7950200" y="4521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C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031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Rahmen, drei Generatoren, eine Messung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20240" cy="173736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Ziel-App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854200"/>
            <a:ext cx="2743200" cy="635000"/>
          </a:xfrm>
          <a:prstGeom prst="rect">
            <a:avLst/>
          </a:prstGeom>
          <a:solidFill>
            <a:srgbClr val="FBFBFC"/>
          </a:solidFill>
          <a:ln w="12700">
            <a:solidFill>
              <a:srgbClr val="7A87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10712" y="18923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10712" y="218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· traditionell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590800"/>
            <a:ext cx="2743200" cy="635000"/>
          </a:xfrm>
          <a:prstGeom prst="rect">
            <a:avLst/>
          </a:prstGeom>
          <a:solidFill>
            <a:srgbClr val="FBFBFC"/>
          </a:solidFill>
          <a:ln w="1270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410712" y="26289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10712" y="2921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 · LLM-only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4064000"/>
            <a:ext cx="2743200" cy="635000"/>
          </a:xfrm>
          <a:prstGeom prst="rect">
            <a:avLst/>
          </a:prstGeom>
          <a:solidFill>
            <a:srgbClr val="FBFBFC"/>
          </a:solidFill>
          <a:ln w="12700">
            <a:solidFill>
              <a:srgbClr val="1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410712" y="41021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4394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· Aufsatz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971800"/>
            <a:ext cx="640080" cy="0"/>
          </a:xfrm>
          <a:prstGeom prst="line">
            <a:avLst/>
          </a:prstGeom>
          <a:noFill/>
          <a:ln w="12700">
            <a:solidFill>
              <a:srgbClr val="7A87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320040" cy="0"/>
          </a:xfrm>
          <a:prstGeom prst="line">
            <a:avLst/>
          </a:prstGeom>
          <a:noFill/>
          <a:ln w="12700">
            <a:solidFill>
              <a:srgbClr val="7A87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8503920" y="3017520"/>
            <a:ext cx="137160" cy="0"/>
          </a:xfrm>
          <a:prstGeom prst="line">
            <a:avLst/>
          </a:prstGeom>
          <a:noFill/>
          <a:ln w="12700">
            <a:solidFill>
              <a:srgbClr val="7A87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355080" y="2331720"/>
            <a:ext cx="2148840" cy="137160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510528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pytest-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Ausführung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0528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Execute-verify-repair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2103120"/>
            <a:ext cx="2834640" cy="91440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851392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Metrik-Suite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51392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 + LLM-as-Judge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3154680"/>
            <a:ext cx="2834640" cy="91440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8851392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25010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51392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Portables Design.  </a:t>
            </a: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Provider-Abstraktion (Ollama lokal/Cloud, OpenAI, Gemini) und ein JSON-Aktionsprotokoll statt vendor-spezifischem Function-Calling — kleine lokale Modelle laufen genauso wie gehostete.</a:t>
            </a:r>
            <a:endParaRPr lang="en-US" sz="1400" dirty="0"/>
          </a:p>
        </p:txBody>
      </p:sp>
      <p:sp>
        <p:nvSpPr>
          <p:cNvPr id="40" name="Shape Skript_S"/>
          <p:cNvSpPr/>
          <p:nvPr/>
        </p:nvSpPr>
        <p:spPr>
          <a:xfrm>
            <a:off x="3246120" y="3327400"/>
            <a:ext cx="2743200" cy="635000"/>
          </a:xfrm>
          <a:prstGeom prst="rect">
            <a:avLst/>
          </a:prstGeom>
          <a:solidFill>
            <a:srgbClr val="FBFBFC"/>
          </a:solidFill>
          <a:ln w="12700">
            <a:solidFill>
              <a:srgbClr val="E091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Skript_S"/>
          <p:cNvSpPr/>
          <p:nvPr/>
        </p:nvSpPr>
        <p:spPr>
          <a:xfrm>
            <a:off x="3410712" y="33655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250" dirty="0"/>
          </a:p>
        </p:txBody>
      </p:sp>
      <p:sp>
        <p:nvSpPr>
          <p:cNvPr id="42" name="Text Skript_S Sub"/>
          <p:cNvSpPr/>
          <p:nvPr/>
        </p:nvSpPr>
        <p:spPr>
          <a:xfrm>
            <a:off x="3410712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L, zusätzlich mit Story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5776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WIE WIR BEWERTEN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Gemeinsame Metrik-Suite → ISO 25010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1874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 Ausführung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(SSR), ausgeführte Element-Coverage, Flakiness — deterministisch gemessen.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486400" cy="187452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553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DeepEval G-Eval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8646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Appropriateness, Hallucination, Readability — semantisch bewertet.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5120640" cy="388620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7512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Suitability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 aus drei Subcharakteristiken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3063240"/>
            <a:ext cx="4572000" cy="786384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85800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34655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Halten die Prüfungen? (Pass-Rate + Judge)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941064"/>
            <a:ext cx="4572000" cy="786384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858000" y="4032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343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der geforderten Stories wird verifiziert?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818888"/>
            <a:ext cx="4572000" cy="786384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858000" y="4910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5221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Robuste, benutzerorientierte Locator &amp; Prüfungen?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Stories dienen als einheitlicher Maßstab für alle vier Artefakte — auch für die story-frei erzeugten.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ZIEL-ANWENDUNG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Juice Shop als Prüfstand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126480" cy="39776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05840" y="2240280"/>
            <a:ext cx="384048" cy="384048"/>
          </a:xfrm>
          <a:prstGeom prst="rect">
            <a:avLst/>
          </a:prstGeom>
          <a:solidFill>
            <a:srgbClr val="FF5A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572768" y="21762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Juice Shop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Komplexe Angular-SPA · E-Commerce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Registrierung, Suche, Warenkorb, Chatbot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200 katalogisierte interaktive Elemente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Dialoge, Overlays, Hash-Routing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Wiederholungen je LLM-Pipeline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4526280" cy="3977640"/>
          </a:xfrm>
          <a:prstGeom prst="rect">
            <a:avLst/>
          </a:prstGeom>
          <a:solidFill>
            <a:srgbClr val="1720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26948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 diese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26060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Realistische, stateful SPA mit echter Tiefe — Formulare, Menüs, Dialoge, Overlays. Genug Oberfläche, um Crawler und LLM-Agent gleichermaßen zu fordern.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4937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per Docker gehostet — reproduzierbar, offline, ohne Rate-Limits.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JETZT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Streamlit-Oberfläche: Ziel-App wählen → Pipelines laufen lassen → generierte Skripte und Metriken nebeneinander.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3474720" cy="868680"/>
          </a:xfrm>
          <a:prstGeom prst="rect">
            <a:avLst/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9164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starten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5120640"/>
            <a:ext cx="3474720" cy="868680"/>
          </a:xfrm>
          <a:prstGeom prst="rect">
            <a:avLst/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4068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Skripte vergleichen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38160" y="5120640"/>
            <a:ext cx="3474720" cy="868680"/>
          </a:xfrm>
          <a:prstGeom prst="rect">
            <a:avLst/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32104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8972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lesen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50 WIEDERHOLUNGEN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 Zahlen auf einen Blick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 ± Standardabweichung · Bestwert je Zeile fett (nur LLM-Pipelines markiert)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3538728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Skript_C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Skript_L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Skript_S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Skript_H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Gen-Zeit (s) 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 ± 130.5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 ± 73.6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 ± 73.8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Tests / alle grün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± 1.8 / nein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nein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nein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(Pass-Rate) 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 ± 0.174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 ± 0.162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0.470 ± 0.190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Element-Coverage genutzt 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± 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± 3.7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± 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Judge: Appropriateness 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 ± 0.037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 ± 0.140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 ± 0.160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Judge: Hallucination 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 ± 0.065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 ± 0.162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 ± 0.197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ISO: Completeness 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 ± 0.193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 ± 0.134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 ± 0.193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ISO: Functional Suitability 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 ± 0.085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 ± 0.094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 ± 0.115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SSR 1.000 von C ist ein Artefakt trivialer Smoke-Assertions — keine funktionale Aussage.   </a:t>
            </a: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Rangfolgen widersprechen sich je nach Achse — deshalb jetzt die vier Duelle im Detail.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DUELL 1 · METHODE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Crawler vs. LLM-Agent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Schlägt der LLM-Agent den Crawler ohne Anforderungs-Vorgabe?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8288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60920" y="19202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1.000 ist leer erkauft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Smoke-Assertions können nicht rot werden — der Judge straft mit Appropriateness 0.400 ab.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2004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60920" y="3291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gewinnt alle Qualitätsachsen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 +0.49, Readability +0.50, FuncSuit 0.709 vs. 0.600 — echte, benannte Verhaltens-Checks.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45720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360920" y="4663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L's Fehler sind reparierbar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hebt SSR 0.667 → 0.889 (2 Runden). Erster Fehler: Error-Toast „Force page reload“ blockiert Klicks — Umgebung, kein Locator-Problem.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Erkenntnis:  </a:t>
            </a: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LLM-Agent ist der klar bessere Test-Generator.</a:t>
            </a: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C's perfekter SSR ist inhaltsleer.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DUELL 2 · METHODE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Live-DOM (S) vs. Crawler-Map (H)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story-bewusst — nur die Wissensquelle unterscheidet sich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63093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630936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868680" y="519379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s</a:t>
            </a:r>
            <a:r>
              <a:rPr lang="en-US" sz="12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(S)  vs.  </a:t>
            </a:r>
            <a:r>
              <a:rPr lang="en-US" sz="19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 s</a:t>
            </a:r>
            <a:r>
              <a:rPr lang="en-US" sz="11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(H) Gen-Zeit — H's Zeit enthält den vollen Crawl (184,8 s): teuerste Pipeline, schwächste Werte.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178040" y="2857500"/>
            <a:ext cx="4389120" cy="88900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60920" y="2933700"/>
            <a:ext cx="40233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gewinnt jede Achse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+0.08, FuncSuit 0.656 vs. 0.600 — bei einem Fünftel der Kosten. S sieht 3 Seiten live, H nur 1.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3886200"/>
            <a:ext cx="4389120" cy="88900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360920" y="3962400"/>
            <a:ext cx="40233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missachtet sein Grounding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Katalog-Locator verfügbar — trotzdem erfundene Namen („Email address“, „Log in“). Start-SSR 0.333, Repair wirkungslos.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8040" y="4914900"/>
            <a:ext cx="4389120" cy="88900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7360920" y="4991100"/>
            <a:ext cx="40233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Halluzination ~gleich (0.142 / 0.146)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H's Katalog-Nähe existiert nur auf dem Papier — es weicht aktiv vom Katalog ab, statt eng an ihm zu bleiben.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Erkenntnis:  </a:t>
            </a: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Statisches Grounding ersetzt keine Live-Verifikation</a:t>
            </a: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es müsste als harte Constraint erzwungen werden.</a:t>
            </a:r>
            <a:endParaRPr lang="en-US" sz="1150" dirty="0"/>
          </a:p>
        </p:txBody>
      </p:sp>
      <p:sp>
        <p:nvSpPr>
          <p:cNvPr id="60" name="Karte Kontext"/>
          <p:cNvSpPr/>
          <p:nvPr/>
        </p:nvSpPr>
        <p:spPr>
          <a:xfrm>
            <a:off x="7178040" y="1828800"/>
            <a:ext cx="4389120" cy="889000"/>
          </a:xfrm>
          <a:prstGeom prst="rect">
            <a:avLst/>
          </a:prstGeom>
          <a:solidFill>
            <a:srgbClr val="FBFBFC"/>
          </a:solidFill>
          <a:ln w="19050">
            <a:solidFill>
              <a:srgbClr val="FF5A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Kontext"/>
          <p:cNvSpPr/>
          <p:nvPr/>
        </p:nvSpPr>
        <p:spPr>
          <a:xfrm>
            <a:off x="7360920" y="1905000"/>
            <a:ext cx="40233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Wichtigster Grund: Kontext-Überforderung
</a:t>
            </a:r>
            <a:r>
              <a:rPr lang="en-US" sz="1050" dirty="0" err="1">
                <a:solidFill>
                  <a:srgbClr val="6B7683"/>
                </a:solidFill>
                <a:latin typeface="Calibri" pitchFamily="34" charset="0"/>
                <a:cs typeface="Calibri" pitchFamily="34" charset="-120"/>
              </a:rPr>
              <a:t>Zustandsgraph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und Code-Zugriff auf einmal — das LLM ist mit der Informationsmenge überfordert, Details fallen aus dem Kontext (out of context).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919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DUELL 3 · ALLE VIER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 vier nach SSR — und warum das täuscht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ist die einzige methodenneutrale Achse — isoliert gelesen führt sie in die Irre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8288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60920" y="19202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Rangfolge: C &gt; S &gt; L &gt; H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LLM-Pipelines liegen innerhalb einer Standardabweichung (± 0.16–0.19) — nur C's Artefakt und H's Abfall sind belastbar.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2004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60920" y="3291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dreht das Bild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0.563 &gt; S 0.543 &gt; C 0.500 &gt; H 0.467 — die Anforderungsabdeckung folgt der Live-Exploration, nicht der Pass-Rate.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45720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360920" y="4663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„Alle Tests grün“ = schwächstes Ergebnis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C schafft es — mit Tests, die nichts prüfen. SSR nie isoliert ranken, immer mit einem Assertion-Stärke-Signal.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Erkenntnis:  </a:t>
            </a: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SSR korreliert in diesem Lauf mit schwachen Assertions</a:t>
            </a: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„vacuous green“.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DUELL 4 · STORY-EFFEKT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Story-Effekt: L vs. 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ändert sich, wenn derselbe Live-Agent zusätzlich die User-Stories bekommt?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32004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977640" y="1874520"/>
          <a:ext cx="32004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543800" y="1828800"/>
            <a:ext cx="402336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7726680" y="19202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kosten Breite, nicht Pass-Rate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statistisch gleich — aber #Tests 11 → 6, Coverage 21 → 14. Die Story-Zahl ankert die Testanzahl exakt (S konstant 6, L schwankt 6–15).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543800" y="3200400"/>
            <a:ext cx="402336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772668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Fehler-Natur trennt L und S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Repair wirkt (0.667 → 0.889). S: Repair wirkungslos (0.833 → 0.833) — das erfundene Login-Konto ist semantisch, nicht mechanisch.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43800" y="4572000"/>
            <a:ext cx="402336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7726680" y="46634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Halluzination 0.084 vs. 0.142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referenziert fast nur live Beobachtetes; S erfindet Testdaten, um die Story-Flows abzudecken.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Erkenntnis:  </a:t>
            </a: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vs S misst Breite gegen anforderungsgebundene Tiefe</a:t>
            </a: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weniger Umfang bei S heißt fokussierter, nicht schlechter.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STABILITÄT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Varianz über 50 Läufe — wer streut wo?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Variationskoeffizient (Std / Mittel) je Metrik — kürzer = stabiler · C entfällt (deterministisch, 1×)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8288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60920" y="19202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stabilste Form UND stabilstes Ergebnis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Testanzahl konstant 6 (CV 0 %), niedrigste SSR-/Completeness-Streuung — die Story-Bindung wirkt als Anker. Nur die Gen-Zeit streut (70 %).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2004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60920" y="3291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instabil, wo es zählt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 CVs bei SSR (40 %) und Completeness (41 %) — halluzinierte Locator treffen mal, mal nicht. Gen-Zeit stabil: der Crawl-Anteil ist konstant.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4572000"/>
            <a:ext cx="4389120" cy="1234440"/>
          </a:xfrm>
          <a:prstGeom prst="rect">
            <a:avLst/>
          </a:prstGeom>
          <a:solidFill>
            <a:srgbClr val="FBFBFC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360920" y="4663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Explorations-Rauschen
</a:t>
            </a: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Testanzahl 6–15, Gen-Zeit-CV 45 % — die freie Agentenschleife läuft mal kurz, mal lang.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Erkenntnis:  </a:t>
            </a: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Streuung sitzt dort, wo eine Pipeline ohne Anker arbeitet</a:t>
            </a: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Flakiness der Ausführung ist überall minimal (≤ 0.014).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Pipelines, ein Benchmark —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eine klare Botschaft zur Pass-Rate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03520" cy="137160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25146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„Vacuous green“
</a:t>
            </a: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SSR korreliert mit schwachen Assertions (C: 1.000 mit Smoke-Checks). Pass-Rate nur zusammen mit Assertion-Stärke bewerten.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2377440"/>
            <a:ext cx="5303520" cy="137160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0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25146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Live-DOM schlägt statische Map
</a:t>
            </a: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H auf allen Achsen bei 1/5 der Kosten. Grounding wirkt nur als erzwungene Constraint — sonst halluziniert das LLM Locator-Namen.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13632"/>
            <a:ext cx="5303520" cy="137160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68680" y="4078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40507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schlägt Crawler qualitativ
</a:t>
            </a: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FuncSuit 0.709 vs. 0.600, Appropriateness +0.49 — der Crawler liefert Breite, aber keine Verifikation.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913632"/>
            <a:ext cx="5303520" cy="1371600"/>
          </a:xfrm>
          <a:prstGeom prst="rect">
            <a:avLst/>
          </a:prstGeom>
          <a:solidFill>
            <a:srgbClr val="1F2A3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400800" y="4078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40507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Kontext-Überforderung des LLM
</a:t>
            </a: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Zustandsgraph, User Stories und Code-Zugriff auf einmal — das LLM ist mit der Informationsmenge überfordert, Details fallen aus dem Kontext (out of context).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Ausblick:  </a:t>
            </a: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hart erzwingen · Repair um semantische Fixes erweitern · Validierung auf zweitem SUT (TodoMVC-Lauf liegt vor: dort dreht sich das L/S-Bild — Stories werden zum einzigen Tiefen-Treiber).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99220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Timon Fricke · Philippos Melikidis   ·   HHZ   ·   pytest · Playwright · ISO/IEC 25010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69680" y="2514600"/>
            <a:ext cx="1463040" cy="384048"/>
          </a:xfrm>
          <a:prstGeom prst="rect">
            <a:avLst/>
          </a:prstGeom>
          <a:solidFill>
            <a:srgbClr val="7A879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69880" y="2514600"/>
            <a:ext cx="1463040" cy="384048"/>
          </a:xfrm>
          <a:prstGeom prst="rect">
            <a:avLst/>
          </a:prstGeom>
          <a:solidFill>
            <a:srgbClr val="FF5A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3081528"/>
            <a:ext cx="1463040" cy="384048"/>
          </a:xfrm>
          <a:prstGeom prst="rect">
            <a:avLst/>
          </a:prstGeom>
          <a:solidFill>
            <a:srgbClr val="E091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69880" y="3081528"/>
            <a:ext cx="1463040" cy="384048"/>
          </a:xfrm>
          <a:prstGeom prst="rect">
            <a:avLst/>
          </a:prstGeom>
          <a:solidFill>
            <a:srgbClr val="1FA8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C1C13C-2F34-8D4F-86D6-B21D4AD5EBFE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1a32b5e0-e2b8-42f6-add8-623ea55152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Microsoft Macintosh PowerPoint</Application>
  <PresentationFormat>Breitbild</PresentationFormat>
  <Paragraphs>269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Fricke, Timon</cp:lastModifiedBy>
  <cp:revision>2</cp:revision>
  <dcterms:created xsi:type="dcterms:W3CDTF">2026-07-13T18:05:46Z</dcterms:created>
  <dcterms:modified xsi:type="dcterms:W3CDTF">2026-07-14T17:41:27Z</dcterms:modified>
</cp:coreProperties>
</file>